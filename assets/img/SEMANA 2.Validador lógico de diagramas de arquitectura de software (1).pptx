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041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158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MX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081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056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859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111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872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043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86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254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513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30D0434-38F6-402E-93DF-BA128EDA02E4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EE6667F-C6BD-4EE8-838A-7EE8C6AF8B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176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39D9C-BBB9-C731-2EA6-174447AC3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800" dirty="0"/>
              <a:t>Validador lógico de diagramas de arquitectura de software.</a:t>
            </a:r>
            <a:br>
              <a:rPr lang="es-MX" sz="4800" dirty="0"/>
            </a:br>
            <a:r>
              <a:rPr lang="es-MX" sz="4800" dirty="0"/>
              <a:t>semana 2.</a:t>
            </a:r>
            <a:br>
              <a:rPr lang="es-MX" sz="4800" dirty="0"/>
            </a:br>
            <a:r>
              <a:rPr lang="es-MX" sz="4800" dirty="0"/>
              <a:t>equipo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45F758-D69F-DC44-0504-E06CE6ABA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2387600"/>
          </a:xfrm>
        </p:spPr>
        <p:txBody>
          <a:bodyPr>
            <a:normAutofit/>
          </a:bodyPr>
          <a:lstStyle/>
          <a:p>
            <a:r>
              <a:rPr lang="es-MX" dirty="0" err="1"/>
              <a:t>Espindola</a:t>
            </a:r>
            <a:r>
              <a:rPr lang="es-MX" dirty="0"/>
              <a:t> </a:t>
            </a:r>
            <a:r>
              <a:rPr lang="es-MX" dirty="0" err="1"/>
              <a:t>Juarez</a:t>
            </a:r>
            <a:r>
              <a:rPr lang="es-MX" dirty="0"/>
              <a:t> </a:t>
            </a:r>
            <a:r>
              <a:rPr lang="es-MX" dirty="0" err="1"/>
              <a:t>Doraly</a:t>
            </a:r>
            <a:endParaRPr lang="es-MX" dirty="0"/>
          </a:p>
          <a:p>
            <a:r>
              <a:rPr lang="es-MX" dirty="0" err="1"/>
              <a:t>Garcia</a:t>
            </a:r>
            <a:r>
              <a:rPr lang="es-MX" dirty="0"/>
              <a:t> Flores Maribel</a:t>
            </a:r>
          </a:p>
          <a:p>
            <a:r>
              <a:rPr lang="es-MX" dirty="0" err="1"/>
              <a:t>Martinez</a:t>
            </a:r>
            <a:r>
              <a:rPr lang="es-MX" dirty="0"/>
              <a:t> Teodoro Rafael Alexis</a:t>
            </a:r>
          </a:p>
          <a:p>
            <a:r>
              <a:rPr lang="es-MX" dirty="0" err="1"/>
              <a:t>Martinez</a:t>
            </a:r>
            <a:r>
              <a:rPr lang="es-MX" dirty="0"/>
              <a:t> Tinajero Eduardo</a:t>
            </a:r>
          </a:p>
          <a:p>
            <a:r>
              <a:rPr lang="es-MX" dirty="0"/>
              <a:t>Solares </a:t>
            </a:r>
            <a:r>
              <a:rPr lang="es-MX" dirty="0" err="1"/>
              <a:t>Mendez</a:t>
            </a:r>
            <a:r>
              <a:rPr lang="es-MX" dirty="0"/>
              <a:t> Cristian Abdiel</a:t>
            </a:r>
          </a:p>
        </p:txBody>
      </p:sp>
    </p:spTree>
    <p:extLst>
      <p:ext uri="{BB962C8B-B14F-4D97-AF65-F5344CB8AC3E}">
        <p14:creationId xmlns:p14="http://schemas.microsoft.com/office/powerpoint/2010/main" val="1675905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3820C-5BB5-B535-976C-91CB21A7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Objectivo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900684-9978-16D4-41A4-88795400D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Realizar pruebas al validador lógico utilizando diagramas de arquitectura incorrectos o inconsistentes, verificando que el sistema detecte violaciones de diseño. Además, elaborar la documentación técnica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39013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008E1-016E-25E9-A706-8A6649B2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con Modelos Inconsistentes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68B02-0BFF-F391-76FD-6326E2D5F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Durante esta etapa se probará el sistema con diferentes arquitecturas que incumplan las reglas definidas en la Semana 1.</a:t>
            </a:r>
          </a:p>
          <a:p>
            <a:r>
              <a:rPr lang="es-MX" b="1" dirty="0"/>
              <a:t>Ejemplo de reglas definidas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 componente </a:t>
            </a:r>
            <a:r>
              <a:rPr lang="es-MX" dirty="0" err="1"/>
              <a:t>Frontend</a:t>
            </a:r>
            <a:r>
              <a:rPr lang="es-MX" dirty="0"/>
              <a:t> no puede acceder directamente a la Base de Datos.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microservicios solo pueden comunicarse mediante la API Gateway.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 servicio externo no puede acceder a componentes internos privados.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946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99FD3-343D-FCCA-BCAD-6B8928A7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230632"/>
            <a:ext cx="10058400" cy="1609344"/>
          </a:xfrm>
        </p:spPr>
        <p:txBody>
          <a:bodyPr/>
          <a:lstStyle/>
          <a:p>
            <a:r>
              <a:rPr lang="es-MX" dirty="0"/>
              <a:t>Explicación del Código en </a:t>
            </a:r>
            <a:r>
              <a:rPr lang="es-MX" dirty="0" err="1"/>
              <a:t>Prolog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45BB1-E204-3E44-8700-3101F9952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8" y="1664208"/>
            <a:ext cx="10058400" cy="4050792"/>
          </a:xfrm>
        </p:spPr>
        <p:txBody>
          <a:bodyPr/>
          <a:lstStyle/>
          <a:p>
            <a:r>
              <a:rPr lang="es-MX" b="1" dirty="0"/>
              <a:t>Validador Lógico de Arquitectura de Software</a:t>
            </a:r>
          </a:p>
          <a:p>
            <a:r>
              <a:rPr lang="es-MX" dirty="0"/>
              <a:t>Este programa en </a:t>
            </a:r>
            <a:r>
              <a:rPr lang="es-MX" dirty="0" err="1"/>
              <a:t>Prolog</a:t>
            </a:r>
            <a:r>
              <a:rPr lang="es-MX" dirty="0"/>
              <a:t> sirve para validar reglas de arquitectura de software.</a:t>
            </a:r>
            <a:br>
              <a:rPr lang="es-MX" dirty="0"/>
            </a:br>
            <a:r>
              <a:rPr lang="es-MX" dirty="0"/>
              <a:t>El objetivo es detectar conexiones incorrectas entre componentes de un sistema, por ejemplo entre microservicios, </a:t>
            </a:r>
            <a:r>
              <a:rPr lang="es-MX" dirty="0" err="1"/>
              <a:t>frontend</a:t>
            </a:r>
            <a:r>
              <a:rPr lang="es-MX" dirty="0"/>
              <a:t> y base de datos.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602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572-5555-3038-7794-14978780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08" y="28889"/>
            <a:ext cx="10058400" cy="1609344"/>
          </a:xfrm>
        </p:spPr>
        <p:txBody>
          <a:bodyPr/>
          <a:lstStyle/>
          <a:p>
            <a:r>
              <a:rPr lang="es-MX" dirty="0"/>
              <a:t>Reglas de Arquitectura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DBA11F-9498-2A37-039A-70368CE1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04" y="672475"/>
            <a:ext cx="11873992" cy="4050792"/>
          </a:xfrm>
        </p:spPr>
        <p:txBody>
          <a:bodyPr/>
          <a:lstStyle/>
          <a:p>
            <a:pPr marL="0" indent="0">
              <a:buNone/>
            </a:pPr>
            <a:endParaRPr lang="es-MX" dirty="0"/>
          </a:p>
          <a:p>
            <a:r>
              <a:rPr lang="es-MX" dirty="0"/>
              <a:t>Define una regla que indica que: </a:t>
            </a:r>
            <a:r>
              <a:rPr lang="es-MX" b="1" dirty="0" err="1"/>
              <a:t>frontend</a:t>
            </a:r>
            <a:r>
              <a:rPr lang="es-MX" dirty="0"/>
              <a:t> no puede comunicarse directamente con </a:t>
            </a:r>
            <a:r>
              <a:rPr lang="es-MX" b="1" dirty="0" err="1"/>
              <a:t>basedatos</a:t>
            </a:r>
            <a:r>
              <a:rPr lang="es-MX" b="1" dirty="0"/>
              <a:t>.</a:t>
            </a:r>
            <a:r>
              <a:rPr lang="es-MX" dirty="0"/>
              <a:t> Esto representa una restricción de seguridad.</a:t>
            </a:r>
          </a:p>
          <a:p>
            <a:r>
              <a:rPr lang="es-MX" dirty="0"/>
              <a:t>Indica que: </a:t>
            </a:r>
            <a:r>
              <a:rPr lang="es-MX" b="1" dirty="0" err="1"/>
              <a:t>servicioA</a:t>
            </a:r>
            <a:r>
              <a:rPr lang="es-MX" dirty="0"/>
              <a:t> no puede conectarse directamente con </a:t>
            </a:r>
            <a:r>
              <a:rPr lang="es-MX" b="1" dirty="0" err="1"/>
              <a:t>servicioC</a:t>
            </a:r>
            <a:r>
              <a:rPr lang="es-MX" dirty="0"/>
              <a:t>.</a:t>
            </a:r>
          </a:p>
          <a:p>
            <a:r>
              <a:rPr lang="es-MX" dirty="0"/>
              <a:t>Esta regla </a:t>
            </a:r>
            <a:r>
              <a:rPr lang="es-MX" dirty="0" err="1"/>
              <a:t>significa:Para</a:t>
            </a:r>
            <a:r>
              <a:rPr lang="es-MX" dirty="0"/>
              <a:t> que </a:t>
            </a:r>
            <a:r>
              <a:rPr lang="es-MX" dirty="0" err="1"/>
              <a:t>servicioA</a:t>
            </a:r>
            <a:r>
              <a:rPr lang="es-MX" dirty="0"/>
              <a:t> se comunique con </a:t>
            </a:r>
            <a:r>
              <a:rPr lang="es-MX" dirty="0" err="1"/>
              <a:t>servicioC,primero</a:t>
            </a:r>
            <a:r>
              <a:rPr lang="es-MX" dirty="0"/>
              <a:t> debe pasar por </a:t>
            </a:r>
            <a:r>
              <a:rPr lang="es-MX" dirty="0" err="1"/>
              <a:t>servicioB</a:t>
            </a:r>
            <a:r>
              <a:rPr lang="es-MX" dirty="0"/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3BD9DB-49EA-60AF-C7D4-9EEC81301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" y="2935799"/>
            <a:ext cx="5444957" cy="2713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58B0C59-E5BB-E912-A71D-28E1C516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320" y="2672470"/>
            <a:ext cx="3965493" cy="129426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FCC52AD-1E17-A83D-27B2-D0BA08E91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566" y="4241571"/>
            <a:ext cx="4299823" cy="151880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D06537D-A1DE-A8F8-738E-45D3F3A1E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71" y="5829582"/>
            <a:ext cx="5270622" cy="76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7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C32F-F676-08C4-EBCB-2291A4D1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Conexiones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70C8CE5-69A7-0667-D86E-A5AB14324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5604" y="3546029"/>
            <a:ext cx="6176877" cy="2827339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10929C1-57E8-B15E-C2FE-A89F41A293D4}"/>
              </a:ext>
            </a:extLst>
          </p:cNvPr>
          <p:cNvSpPr txBox="1"/>
          <p:nvPr/>
        </p:nvSpPr>
        <p:spPr>
          <a:xfrm>
            <a:off x="1063752" y="1680756"/>
            <a:ext cx="109961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 err="1"/>
              <a:t>ExplicaciónEstas</a:t>
            </a:r>
            <a:r>
              <a:rPr lang="es-MX" sz="2000" dirty="0"/>
              <a:t> líneas representan conexiones válidas dentro de la arquitectura.</a:t>
            </a:r>
          </a:p>
          <a:p>
            <a:r>
              <a:rPr lang="es-MX" sz="2000" dirty="0"/>
              <a:t>Ejemplo:</a:t>
            </a:r>
          </a:p>
          <a:p>
            <a:r>
              <a:rPr lang="es-MX" sz="2000" dirty="0" err="1"/>
              <a:t>Frontend</a:t>
            </a:r>
            <a:r>
              <a:rPr lang="es-MX" sz="2000" dirty="0"/>
              <a:t> → API Gateway</a:t>
            </a:r>
          </a:p>
          <a:p>
            <a:r>
              <a:rPr lang="es-MX" sz="2000" dirty="0"/>
              <a:t>API Gateway → </a:t>
            </a:r>
            <a:r>
              <a:rPr lang="es-MX" sz="2000" dirty="0" err="1"/>
              <a:t>ServicioA</a:t>
            </a:r>
            <a:endParaRPr lang="es-MX" sz="2000" dirty="0"/>
          </a:p>
          <a:p>
            <a:r>
              <a:rPr lang="es-MX" sz="2000" dirty="0" err="1"/>
              <a:t>ServicioA</a:t>
            </a:r>
            <a:r>
              <a:rPr lang="es-MX" sz="2000" dirty="0"/>
              <a:t> → </a:t>
            </a:r>
            <a:r>
              <a:rPr lang="es-MX" sz="2000" dirty="0" err="1"/>
              <a:t>BaseDatos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403220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DA497-8A5A-61B1-8311-2E729EEB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Detectar Violaciones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BA607-C6AF-4561-E724-60EB31A4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28" y="1674368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Explicación</a:t>
            </a:r>
          </a:p>
          <a:p>
            <a:r>
              <a:rPr lang="es-MX" dirty="0"/>
              <a:t>Esta regla verifica si existe una conexión prohibida.</a:t>
            </a:r>
          </a:p>
          <a:p>
            <a:r>
              <a:rPr lang="es-MX" dirty="0"/>
              <a:t>Funcionamiento: Busca una conexión </a:t>
            </a:r>
            <a:r>
              <a:rPr lang="es-MX" dirty="0" err="1"/>
              <a:t>conexion</a:t>
            </a:r>
            <a:r>
              <a:rPr lang="es-MX" dirty="0"/>
              <a:t>(X,Y)</a:t>
            </a:r>
          </a:p>
          <a:p>
            <a:r>
              <a:rPr lang="es-MX" dirty="0"/>
              <a:t>Verifica si está en prohibido(X,Y)Si ambas condiciones se cumplen, existe una violación.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81FA32-324B-D8BF-C368-970F90FD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28" y="3895852"/>
            <a:ext cx="6349306" cy="24775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D39F79-5E26-557F-57A7-ED00A48E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997" y="3895852"/>
            <a:ext cx="4036251" cy="21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7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4EB5F-A7A7-A260-C72F-887B619D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368" y="277367"/>
            <a:ext cx="10058400" cy="1609344"/>
          </a:xfrm>
        </p:spPr>
        <p:txBody>
          <a:bodyPr/>
          <a:lstStyle/>
          <a:p>
            <a:r>
              <a:rPr lang="es-MX" dirty="0"/>
              <a:t>Validar Paso Obligatorio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A3B54-4959-EFE3-F0C0-59113D1EE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48" y="2050269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Explicación</a:t>
            </a:r>
          </a:p>
          <a:p>
            <a:r>
              <a:rPr lang="es-MX" dirty="0"/>
              <a:t>Verifica si falta un intermediario obligatorio.</a:t>
            </a:r>
          </a:p>
          <a:p>
            <a:r>
              <a:rPr lang="es-MX" dirty="0"/>
              <a:t>\+ </a:t>
            </a:r>
            <a:r>
              <a:rPr lang="es-MX" dirty="0" err="1"/>
              <a:t>significa:NO</a:t>
            </a:r>
            <a:r>
              <a:rPr lang="es-MX" dirty="0"/>
              <a:t> existe</a:t>
            </a:r>
          </a:p>
          <a:p>
            <a:r>
              <a:rPr lang="es-MX" dirty="0" err="1"/>
              <a:t>FuncionamientoLa</a:t>
            </a:r>
            <a:r>
              <a:rPr lang="es-MX" dirty="0"/>
              <a:t> regla pregunta:</a:t>
            </a:r>
          </a:p>
          <a:p>
            <a:pPr marL="0" indent="0">
              <a:buNone/>
            </a:pPr>
            <a:r>
              <a:rPr lang="es-MX" dirty="0"/>
              <a:t>¿Existe conexión directa entre X y </a:t>
            </a:r>
            <a:r>
              <a:rPr lang="es-MX" dirty="0" err="1"/>
              <a:t>Y</a:t>
            </a:r>
            <a:r>
              <a:rPr lang="es-MX" dirty="0"/>
              <a:t>?</a:t>
            </a:r>
          </a:p>
          <a:p>
            <a:pPr marL="0" indent="0">
              <a:buNone/>
            </a:pPr>
            <a:r>
              <a:rPr lang="es-MX" dirty="0"/>
              <a:t>¿La regla dice que debe pasar por Z?</a:t>
            </a:r>
          </a:p>
          <a:p>
            <a:pPr marL="0" indent="0">
              <a:buNone/>
            </a:pPr>
            <a:r>
              <a:rPr lang="es-MX" dirty="0"/>
              <a:t>¿NO existe conexión entre X y </a:t>
            </a:r>
            <a:r>
              <a:rPr lang="es-MX" dirty="0" err="1"/>
              <a:t>Z?Entonces</a:t>
            </a:r>
            <a:r>
              <a:rPr lang="es-MX" dirty="0"/>
              <a:t> hay </a:t>
            </a:r>
            <a:r>
              <a:rPr lang="es-MX" dirty="0" err="1"/>
              <a:t>error.Ejemplo</a:t>
            </a:r>
            <a:endParaRPr lang="es-MX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83A201-ACB4-050C-890A-5F321CDF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006" y="1775948"/>
            <a:ext cx="5328210" cy="26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5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19B9C-91F3-9112-B063-EB75937B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08" y="0"/>
            <a:ext cx="10058400" cy="1609344"/>
          </a:xfrm>
        </p:spPr>
        <p:txBody>
          <a:bodyPr/>
          <a:lstStyle/>
          <a:p>
            <a:r>
              <a:rPr lang="es-MX" dirty="0"/>
              <a:t>Mostrar Errores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26A34-54A5-49BF-B5A8-112B9BF5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" y="1156208"/>
            <a:ext cx="10058400" cy="4050792"/>
          </a:xfrm>
        </p:spPr>
        <p:txBody>
          <a:bodyPr/>
          <a:lstStyle/>
          <a:p>
            <a:r>
              <a:rPr lang="es-MX" dirty="0"/>
              <a:t>Busca todas las conexiones inválidas.</a:t>
            </a:r>
          </a:p>
          <a:p>
            <a:r>
              <a:rPr lang="es-MX" dirty="0"/>
              <a:t>Imprime el mensaje de error en pantalla.</a:t>
            </a:r>
          </a:p>
          <a:p>
            <a:r>
              <a:rPr lang="es-MX" b="1" dirty="0" err="1"/>
              <a:t>Write</a:t>
            </a:r>
            <a:r>
              <a:rPr lang="es-MX" b="1" dirty="0"/>
              <a:t> </a:t>
            </a:r>
            <a:r>
              <a:rPr lang="es-MX" dirty="0"/>
              <a:t>Sirve para mostrar texto.</a:t>
            </a:r>
            <a:r>
              <a:rPr lang="es-MX" b="1" dirty="0"/>
              <a:t>nl</a:t>
            </a:r>
            <a:r>
              <a:rPr lang="es-MX" dirty="0"/>
              <a:t> Hace un salto de línea.</a:t>
            </a:r>
          </a:p>
          <a:p>
            <a:r>
              <a:rPr lang="es-MX" b="1" dirty="0" err="1"/>
              <a:t>fail</a:t>
            </a:r>
            <a:r>
              <a:rPr lang="es-MX" b="1" dirty="0"/>
              <a:t> </a:t>
            </a:r>
            <a:r>
              <a:rPr lang="es-MX" dirty="0"/>
              <a:t>obliga a </a:t>
            </a:r>
            <a:r>
              <a:rPr lang="es-MX" dirty="0" err="1"/>
              <a:t>Prolog</a:t>
            </a:r>
            <a:r>
              <a:rPr lang="es-MX" dirty="0"/>
              <a:t> a seguir buscando más errores. Sin</a:t>
            </a:r>
            <a:r>
              <a:rPr lang="es-MX" b="1" dirty="0"/>
              <a:t> </a:t>
            </a:r>
            <a:r>
              <a:rPr lang="es-MX" b="1" dirty="0" err="1"/>
              <a:t>fail</a:t>
            </a:r>
            <a:r>
              <a:rPr lang="es-MX" dirty="0"/>
              <a:t>, solo mostraría el primero.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EEF1A4-59FA-805A-65D5-B193F9A9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297" y="3050032"/>
            <a:ext cx="5631343" cy="368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0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82BC1-AF7A-50B5-F8B5-5A6D2E8D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Mostrar Violaciones de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2A415A-8981-D967-F01D-ABB384746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Busca errores donde falta un intermediario obligatorio.</a:t>
            </a:r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FDF8AFC-25B1-6A7B-1AEE-B097C474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27" y="2876495"/>
            <a:ext cx="5835511" cy="297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6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6DEC2-7BBF-E95B-7FF5-47C6E686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Validación Terminada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E173B-7CF6-B1AD-691C-81A9779E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Cuando ya no encuentra errores, muestra: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D932A8-3D9C-B3D0-BCBA-765F2986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952730"/>
            <a:ext cx="6933985" cy="15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5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90D5C-8ECD-941F-E8A4-E6118944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8" y="285496"/>
            <a:ext cx="10058400" cy="1609344"/>
          </a:xfrm>
        </p:spPr>
        <p:txBody>
          <a:bodyPr/>
          <a:lstStyle/>
          <a:p>
            <a:r>
              <a:rPr lang="es-MX" dirty="0"/>
              <a:t>Verificar si Toda la Arquitectura es Correcta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E81D6-7F11-062B-FFEC-8F631B992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8" y="1796010"/>
            <a:ext cx="10058400" cy="4050792"/>
          </a:xfrm>
        </p:spPr>
        <p:txBody>
          <a:bodyPr/>
          <a:lstStyle/>
          <a:p>
            <a:r>
              <a:rPr lang="es-MX" b="1" dirty="0"/>
              <a:t>Explicación</a:t>
            </a:r>
          </a:p>
          <a:p>
            <a:r>
              <a:rPr lang="es-MX" dirty="0"/>
              <a:t>Comprueba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existan conexiones prohibidas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existan errores de paso obligatorio 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FC0461-AD93-6D9C-3667-1343CA82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01" y="3643607"/>
            <a:ext cx="6019336" cy="26391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984E073-F72D-A935-7318-6C64E2CFF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298" y="4172568"/>
            <a:ext cx="4754106" cy="105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5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786A6-95FF-41BD-3F5E-1078A0EE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Ejecución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BCB422-2DDF-E436-49A1-E74613CE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la función principal del sistema.</a:t>
            </a:r>
          </a:p>
          <a:p>
            <a:r>
              <a:rPr lang="es-MX" dirty="0"/>
              <a:t>Cuando ejecutas: validar. el programa: Busca errores, Los muestra, Verifica si la arquitectura es válida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A2E4CF-83C3-6394-8942-3B1E3F30B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37" y="3569928"/>
            <a:ext cx="5465563" cy="26297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8245E2-DCA1-6CF0-F6F4-9F5FD18B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411" y="3575008"/>
            <a:ext cx="3645079" cy="14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2DD99-2B98-1C3A-FF91-FC34416B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23E449-8703-40D6-A932-1679CC24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esta Semana 2 se desarrolló un validador lógico en </a:t>
            </a:r>
            <a:r>
              <a:rPr lang="es-MX" dirty="0" err="1"/>
              <a:t>Prolog</a:t>
            </a:r>
            <a:r>
              <a:rPr lang="es-MX" dirty="0"/>
              <a:t> capaz de detectar errores en arquitecturas de software mediante reglas y conexiones definidas. También se realizaron pruebas con modelos inconsistentes para comprobar el correcto funcionamiento del sistema, logrando identificar violaciones y validar arquitecturas correctas de manera automática.</a:t>
            </a:r>
          </a:p>
        </p:txBody>
      </p:sp>
    </p:spTree>
    <p:extLst>
      <p:ext uri="{BB962C8B-B14F-4D97-AF65-F5344CB8AC3E}">
        <p14:creationId xmlns:p14="http://schemas.microsoft.com/office/powerpoint/2010/main" val="2150698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EDF7E-2F19-D04A-6B00-D4FF5118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517B0-2945-A0AD-0FB0-1BACD084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s-MX" dirty="0"/>
              <a:t>SWI-</a:t>
            </a:r>
            <a:r>
              <a:rPr lang="es-MX" dirty="0" err="1"/>
              <a:t>Prolog</a:t>
            </a:r>
            <a:r>
              <a:rPr lang="es-MX" dirty="0"/>
              <a:t>. </a:t>
            </a:r>
            <a:r>
              <a:rPr lang="es-MX" i="1" dirty="0"/>
              <a:t>SWI-</a:t>
            </a:r>
            <a:r>
              <a:rPr lang="es-MX" i="1" dirty="0" err="1"/>
              <a:t>Prolog</a:t>
            </a:r>
            <a:r>
              <a:rPr lang="es-MX" i="1" dirty="0"/>
              <a:t> </a:t>
            </a:r>
            <a:r>
              <a:rPr lang="es-MX" i="1" dirty="0" err="1"/>
              <a:t>Documentation</a:t>
            </a:r>
            <a:r>
              <a:rPr lang="es-MX" dirty="0"/>
              <a:t>. Consultado para la sintaxis y reglas de programación lógica. </a:t>
            </a:r>
          </a:p>
          <a:p>
            <a:pPr>
              <a:buFont typeface="+mj-lt"/>
              <a:buAutoNum type="arabicPeriod"/>
            </a:pPr>
            <a:r>
              <a:rPr lang="es-MX" dirty="0"/>
              <a:t>Inteligencia Artificial. Conceptos de razonamiento lógico y sistemas basados en reglas. </a:t>
            </a:r>
          </a:p>
          <a:p>
            <a:pPr>
              <a:buFont typeface="+mj-lt"/>
              <a:buAutoNum type="arabicPeriod"/>
            </a:pPr>
            <a:r>
              <a:rPr lang="es-MX" dirty="0"/>
              <a:t>Arquitectura de Software. Principios de validación y restricciones arquitectónicas. </a:t>
            </a:r>
          </a:p>
          <a:p>
            <a:pPr>
              <a:buFont typeface="+mj-lt"/>
              <a:buAutoNum type="arabicPeriod"/>
            </a:pPr>
            <a:r>
              <a:rPr lang="es-MX" dirty="0" err="1"/>
              <a:t>Bratko</a:t>
            </a:r>
            <a:r>
              <a:rPr lang="es-MX" dirty="0"/>
              <a:t>, I. </a:t>
            </a:r>
            <a:r>
              <a:rPr lang="es-MX" i="1" dirty="0" err="1"/>
              <a:t>Prolog</a:t>
            </a:r>
            <a:r>
              <a:rPr lang="es-MX" i="1" dirty="0"/>
              <a:t> </a:t>
            </a:r>
            <a:r>
              <a:rPr lang="es-MX" i="1" dirty="0" err="1"/>
              <a:t>Programming</a:t>
            </a:r>
            <a:r>
              <a:rPr lang="es-MX" i="1" dirty="0"/>
              <a:t> </a:t>
            </a:r>
            <a:r>
              <a:rPr lang="es-MX" i="1" dirty="0" err="1"/>
              <a:t>for</a:t>
            </a:r>
            <a:r>
              <a:rPr lang="es-MX" i="1" dirty="0"/>
              <a:t> Artificial </a:t>
            </a:r>
            <a:r>
              <a:rPr lang="es-MX" i="1" dirty="0" err="1"/>
              <a:t>Intelligence</a:t>
            </a:r>
            <a:r>
              <a:rPr lang="es-MX" dirty="0"/>
              <a:t>. Addison-Wesley. </a:t>
            </a:r>
          </a:p>
          <a:p>
            <a:pPr>
              <a:buFont typeface="+mj-lt"/>
              <a:buAutoNum type="arabicPeriod"/>
            </a:pPr>
            <a:r>
              <a:rPr lang="es-MX" dirty="0"/>
              <a:t>Pressman, R. </a:t>
            </a:r>
            <a:r>
              <a:rPr lang="es-MX" i="1" dirty="0"/>
              <a:t>Ingeniería de Software: Un enfoque práctico</a:t>
            </a:r>
            <a:r>
              <a:rPr lang="es-MX" dirty="0"/>
              <a:t>. McGraw-Hill.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9075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EA281-8F75-17FD-AEAB-C1256B2A9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46632"/>
            <a:ext cx="10058400" cy="3132328"/>
          </a:xfrm>
        </p:spPr>
        <p:txBody>
          <a:bodyPr>
            <a:normAutofit/>
          </a:bodyPr>
          <a:lstStyle/>
          <a:p>
            <a:pPr algn="ctr"/>
            <a:r>
              <a:rPr lang="es-MX" sz="9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141443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TM03090434[[fn=Letras en madera]]</Template>
  <TotalTime>117</TotalTime>
  <Words>589</Words>
  <Application>Microsoft Office PowerPoint</Application>
  <PresentationFormat>Panorámica</PresentationFormat>
  <Paragraphs>67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Rockwell</vt:lpstr>
      <vt:lpstr>Rockwell Condensed</vt:lpstr>
      <vt:lpstr>Wingdings</vt:lpstr>
      <vt:lpstr>Letras en madera</vt:lpstr>
      <vt:lpstr>Validador lógico de diagramas de arquitectura de software. semana 2. equipo 4</vt:lpstr>
      <vt:lpstr>Objectivo</vt:lpstr>
      <vt:lpstr>Pruebas con Modelos Inconsistentes</vt:lpstr>
      <vt:lpstr>Explicación del Código en Prolog</vt:lpstr>
      <vt:lpstr>Reglas de Arquitectura</vt:lpstr>
      <vt:lpstr>Conexiones del Sistema</vt:lpstr>
      <vt:lpstr>Detectar Violaciones</vt:lpstr>
      <vt:lpstr>Validar Paso Obligatorio</vt:lpstr>
      <vt:lpstr>Mostrar Errores</vt:lpstr>
      <vt:lpstr>Mostrar Violaciones de Paso</vt:lpstr>
      <vt:lpstr>Validación Terminada</vt:lpstr>
      <vt:lpstr>Verificar si Toda la Arquitectura es Correcta</vt:lpstr>
      <vt:lpstr>Ejecución Principal</vt:lpstr>
      <vt:lpstr>conclusión</vt:lpstr>
      <vt:lpstr>Referencias 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ALEXIS  MART�NEZ TEODORO</dc:creator>
  <cp:lastModifiedBy>RAFAEL ALEXIS  MART�NEZ TEODORO</cp:lastModifiedBy>
  <cp:revision>1</cp:revision>
  <dcterms:created xsi:type="dcterms:W3CDTF">2026-05-21T23:32:46Z</dcterms:created>
  <dcterms:modified xsi:type="dcterms:W3CDTF">2026-05-22T01:29:48Z</dcterms:modified>
</cp:coreProperties>
</file>